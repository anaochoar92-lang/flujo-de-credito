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7293D233-D3B5-740E-3B9A-99BBCE574938}">
          <p14:sldIdLst>
            <p14:sldId id="256"/>
          </p14:sldIdLst>
        </p14:section>
        <p14:section name="Resumen" id="{90240A7E-98F2-405C-4624-0C2D29D7B190}">
          <p14:sldIdLst>
            <p14:sldId id="257"/>
          </p14:sldIdLst>
        </p14:section>
        <p14:section name="Diagnóstico" id="{317FED15-35AD-8F42-AC1E-DE3111877DC0}">
          <p14:sldIdLst>
            <p14:sldId id="258"/>
            <p14:sldId id="259"/>
          </p14:sldIdLst>
        </p14:section>
        <p14:section name="Solución" id="{2061C743-1CC6-F68A-10AC-2B0E2895C3DE}">
          <p14:sldIdLst>
            <p14:sldId id="260"/>
            <p14:sldId id="261"/>
            <p14:sldId id="262"/>
          </p14:sldIdLst>
        </p14:section>
        <p14:section name="Resultados" id="{1888C232-5E25-C33B-89DC-037BB5C58CC3}">
          <p14:sldIdLst>
            <p14:sldId id="263"/>
            <p14:sldId id="264"/>
            <p14:sldId id="265"/>
          </p14:sldIdLst>
        </p14:section>
        <p14:section name="Avance" id="{5BD0D27B-2B65-6EA8-9FE1-B1A12DC0172D}">
          <p14:sldIdLst>
            <p14:sldId id="266"/>
            <p14:sldId id="267"/>
          </p14:sldIdLst>
        </p14:section>
        <p14:section name="Cierre" id="{58768C20-DD89-E117-DE77-56CB35D70FB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lang="es-MX" sz="1200" b="0" i="0" u="none" strike="noStrike">
                <a:solidFill>
                  <a:srgbClr val="0E3B43"/>
                </a:solidFill>
                <a:latin typeface="+mn-lt"/>
              </a:rPr>
              <a:t>Puntaje de priorización (1 a 5)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Puntaje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C2B2D"/>
                    </a:solidFill>
                    <a:latin typeface="+mn-lt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OPP-05 RPA para escaneo</c:v>
                </c:pt>
                <c:pt idx="1">
                  <c:v>OPP-04 Recogida a domicilio</c:v>
                </c:pt>
                <c:pt idx="2">
                  <c:v>OPP-03 Estado en la web</c:v>
                </c:pt>
                <c:pt idx="3">
                  <c:v>OPP-01 Portal de carga</c:v>
                </c:pt>
                <c:pt idx="4">
                  <c:v>OPP-02 Validación automática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2.75</c:v>
                </c:pt>
                <c:pt idx="1">
                  <c:v>3.55</c:v>
                </c:pt>
                <c:pt idx="2">
                  <c:v>3.65</c:v>
                </c:pt>
                <c:pt idx="3">
                  <c:v>4</c:v>
                </c:pt>
                <c:pt idx="4">
                  <c:v>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C6-43A9-BE18-842652A4B8E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DCE6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8C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lang="es-MX" sz="1200" b="0" i="0" u="none" strike="noStrike">
                <a:solidFill>
                  <a:srgbClr val="0E3B43"/>
                </a:solidFill>
                <a:latin typeface="+mn-lt"/>
              </a:rPr>
              <a:t>Créditos cerrados por vencimiento al año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Créditos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F02-45FD-855C-7F1A26713155}"/>
              </c:ext>
            </c:extLst>
          </c:dPt>
          <c:dPt>
            <c:idx val="1"/>
            <c:invertIfNegative val="0"/>
            <c:bubble3D val="0"/>
            <c:spPr>
              <a:solidFill>
                <a:srgbClr val="9DB7B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F02-45FD-855C-7F1A26713155}"/>
              </c:ext>
            </c:extLst>
          </c:dPt>
          <c:dPt>
            <c:idx val="2"/>
            <c:invertIfNegative val="0"/>
            <c:bubble3D val="0"/>
            <c:spPr>
              <a:solidFill>
                <a:srgbClr val="0F7C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F02-45FD-855C-7F1A2671315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C2B2D"/>
                    </a:solidFill>
                    <a:latin typeface="+mn-lt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AS-IS</c:v>
                </c:pt>
                <c:pt idx="1">
                  <c:v>TO-BE sin medidas</c:v>
                </c:pt>
                <c:pt idx="2">
                  <c:v>TO-BE con medidas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336</c:v>
                </c:pt>
                <c:pt idx="1">
                  <c:v>148</c:v>
                </c:pt>
                <c:pt idx="2">
                  <c:v>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F02-45FD-855C-7F1A2671315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6350" cap="flat">
              <a:solidFill>
                <a:srgbClr val="DCE6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8C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lang="es-MX" sz="1200" b="0" i="0" u="none" strike="noStrike">
                <a:solidFill>
                  <a:srgbClr val="0E3B43"/>
                </a:solidFill>
                <a:latin typeface="+mn-lt"/>
              </a:rPr>
              <a:t>ROI año 1 por opción (escenario base)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 año 1</c:v>
                </c:pt>
              </c:strCache>
            </c:strRef>
          </c:tx>
          <c:spPr>
            <a:solidFill>
              <a:srgbClr val="9DB7B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9DB7B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6FF-40C0-9CDC-5FA8A7EDBBD1}"/>
              </c:ext>
            </c:extLst>
          </c:dPt>
          <c:dPt>
            <c:idx val="1"/>
            <c:invertIfNegative val="0"/>
            <c:bubble3D val="0"/>
            <c:spPr>
              <a:solidFill>
                <a:srgbClr val="9DB7B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6FF-40C0-9CDC-5FA8A7EDBBD1}"/>
              </c:ext>
            </c:extLst>
          </c:dPt>
          <c:dPt>
            <c:idx val="2"/>
            <c:invertIfNegative val="0"/>
            <c:bubble3D val="0"/>
            <c:spPr>
              <a:solidFill>
                <a:srgbClr val="9DB7B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6FF-40C0-9CDC-5FA8A7EDBBD1}"/>
              </c:ext>
            </c:extLst>
          </c:dPt>
          <c:dPt>
            <c:idx val="3"/>
            <c:invertIfNegative val="0"/>
            <c:bubble3D val="0"/>
            <c:spPr>
              <a:solidFill>
                <a:srgbClr val="0F7C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6FF-40C0-9CDC-5FA8A7EDBBD1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C2B2D"/>
                    </a:solidFill>
                    <a:latin typeface="+mn-lt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Portal completo</c:v>
                </c:pt>
                <c:pt idx="1">
                  <c:v>Opción 1</c:v>
                </c:pt>
                <c:pt idx="2">
                  <c:v>Opción 2</c:v>
                </c:pt>
                <c:pt idx="3">
                  <c:v>Opción 3 (adoptada)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-93.6</c:v>
                </c:pt>
                <c:pt idx="1">
                  <c:v>-92</c:v>
                </c:pt>
                <c:pt idx="2">
                  <c:v>-68</c:v>
                </c:pt>
                <c:pt idx="3">
                  <c:v>16.7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6FF-40C0-9CDC-5FA8A7EDBBD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-100"/>
        </c:scaling>
        <c:delete val="0"/>
        <c:axPos val="l"/>
        <c:majorGridlines>
          <c:spPr>
            <a:ln w="6350" cap="flat">
              <a:solidFill>
                <a:srgbClr val="DCE6E4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8C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2676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ejecutiva del proyecto de automatización del tramo de expediente del crédito preaprobado de la feria Expomóvil.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principal: el paquete A (portal + validación + recogida + consulta de estado) cumple la meta de 6 días. El ROI positivo depende de convertir el tiempo liberado en caja (Opción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Excel de tiempos (estimado) y entrevista. Volumen de ejemplo: 1.000 solicitudes por mes de feria, 400 llegan a expediente.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porqués de P-01 confirmados por el entrevistado (PRIO-2). P-02 y P-03 tienen niveles pendientes.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didáctica: cliente 25 %, volumen 20 %, urgencia 15 %, factibilidad 20 %, riesgo 20 %. Puntajes son hipótesis para discutir.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BPMN TO-BE v03 para Camunda 8.10. Riesgo: si el escaneo sigue tardando 3 días, la meta queda sin margen.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Hipótesis H-2b: la mitad de los cierres en el portal se evitan. Costo de llamadas y asistencia estimado en menos de RD$ 20.000 al año.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valores sintéticos vienen del reporte de validación de Preset (14,93 vs 7,81 días; 20 % vs 6,9 %; 10,5 % vs 2,8 %).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Opción 3 = versión mínima sobre Camunda 8.10 + mensajero de tercero cobrado al cliente + tiempo liberado convertido en caja (≈ 2,7 puestos fuera de feria). Cifras en pesos dominicanos.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Otros riesgos: datos personales en la web, errores de la validación automática, adopción del portal y que la comisión del mensajero desanime a algunos clientes (respaldo: entrega en sucursal).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trabajo está versionado en el repositorio Flujo-de-credito (GitHub). Los BPMN nunca se sobrescriben: cada cambio crea una versión nueva.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MVP es una demostración: no cambia el ROI ni los KPI del tablero. Corre en modo simulado; la conexión con Camunda real no forma parte del terminado.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datos reales del piloto se reemplazan las hipótesis de horas y conversión de tiempo, y se recalcula el ROI.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0175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09728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4"/>
                </a:solidFill>
              </a:rPr>
              <a:t>Cifras estimadas y datos SINTÉTICOS · no son mediciones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Automatización del flujo de crédito preaprobado</a:t>
            </a: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0175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5"/>
                </a:solidFill>
              </a:rPr>
              <a:t>Expomóvil · BanReservas</a:t>
            </a:r>
            <a:endParaRPr lang="en-US" sz="1600" dirty="0"/>
          </a:p>
          <a:p>
            <a:pPr marL="0" indent="0">
              <a:buNone/>
            </a:pPr>
            <a:r>
              <a:rPr lang="en-US" sz="1600" dirty="0" err="1">
                <a:solidFill>
                  <a:schemeClr val="accent5"/>
                </a:solidFill>
              </a:rPr>
              <a:t>Octubre</a:t>
            </a:r>
            <a:r>
              <a:rPr lang="en-US" sz="1600" dirty="0">
                <a:solidFill>
                  <a:schemeClr val="accent5"/>
                </a:solidFill>
              </a:rPr>
              <a:t> 2026</a:t>
            </a:r>
            <a:endParaRPr lang="en-US" sz="1600" dirty="0"/>
          </a:p>
        </p:txBody>
      </p:sp>
      <p:sp>
        <p:nvSpPr>
          <p:cNvPr id="4" name="portada-punto"/>
          <p:cNvSpPr/>
          <p:nvPr/>
        </p:nvSpPr>
        <p:spPr>
          <a:xfrm>
            <a:off x="548640" y="640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1"/>
          <p:cNvSpPr txBox="1"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David Medellin, Sergio Gutierrez, Juan David Cardenas y Ana Ochoa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propuesta reduce el expediente a la mitad y se paga en 10 meses</a:t>
            </a:r>
            <a:endParaRPr lang="en-US" sz="2600" dirty="0"/>
          </a:p>
        </p:txBody>
      </p:sp>
      <p:sp>
        <p:nvSpPr>
          <p:cNvPr id="3" name="tarjeta-2"/>
          <p:cNvSpPr/>
          <p:nvPr/>
        </p:nvSpPr>
        <p:spPr>
          <a:xfrm>
            <a:off x="457200" y="1188720"/>
            <a:ext cx="25603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o-3"/>
          <p:cNvSpPr txBox="1"/>
          <p:nvPr/>
        </p:nvSpPr>
        <p:spPr>
          <a:xfrm>
            <a:off x="685800" y="1371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→ 6</a:t>
            </a:r>
            <a:endParaRPr lang="en-US" sz="4000" dirty="0"/>
          </a:p>
        </p:txBody>
      </p:sp>
      <p:sp>
        <p:nvSpPr>
          <p:cNvPr id="5" name="texto-4"/>
          <p:cNvSpPr txBox="1"/>
          <p:nvPr/>
        </p:nvSpPr>
        <p:spPr>
          <a:xfrm>
            <a:off x="68580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días hábiles de expediente</a:t>
            </a:r>
            <a:endParaRPr lang="en-US" sz="1400" dirty="0"/>
          </a:p>
        </p:txBody>
      </p:sp>
      <p:sp>
        <p:nvSpPr>
          <p:cNvPr id="6" name="texto-5"/>
          <p:cNvSpPr txBox="1"/>
          <p:nvPr/>
        </p:nvSpPr>
        <p:spPr>
          <a:xfrm>
            <a:off x="68580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Meta del tramo; el proceso pasa de 17 a 11 días</a:t>
            </a:r>
            <a:endParaRPr lang="en-US" sz="1100" dirty="0"/>
          </a:p>
        </p:txBody>
      </p:sp>
      <p:sp>
        <p:nvSpPr>
          <p:cNvPr id="7" name="tarjeta-6"/>
          <p:cNvSpPr/>
          <p:nvPr/>
        </p:nvSpPr>
        <p:spPr>
          <a:xfrm>
            <a:off x="3291840" y="1188720"/>
            <a:ext cx="25603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o-7"/>
          <p:cNvSpPr txBox="1"/>
          <p:nvPr/>
        </p:nvSpPr>
        <p:spPr>
          <a:xfrm>
            <a:off x="3520440" y="1371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+16,7 %</a:t>
            </a:r>
            <a:endParaRPr lang="en-US" sz="4000" dirty="0"/>
          </a:p>
        </p:txBody>
      </p:sp>
      <p:sp>
        <p:nvSpPr>
          <p:cNvPr id="9" name="texto-8"/>
          <p:cNvSpPr txBox="1"/>
          <p:nvPr/>
        </p:nvSpPr>
        <p:spPr>
          <a:xfrm>
            <a:off x="352044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ROI año 1 (escenario base)</a:t>
            </a:r>
            <a:endParaRPr lang="en-US" sz="1400" dirty="0"/>
          </a:p>
        </p:txBody>
      </p:sp>
      <p:sp>
        <p:nvSpPr>
          <p:cNvPr id="10" name="texto-9"/>
          <p:cNvSpPr txBox="1"/>
          <p:nvPr/>
        </p:nvSpPr>
        <p:spPr>
          <a:xfrm>
            <a:off x="352044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Recuperación en 10,1 meses con inversión de RD$ 1 M</a:t>
            </a:r>
            <a:endParaRPr lang="en-US" sz="1100" dirty="0"/>
          </a:p>
        </p:txBody>
      </p:sp>
      <p:sp>
        <p:nvSpPr>
          <p:cNvPr id="11" name="tarjeta-10"/>
          <p:cNvSpPr/>
          <p:nvPr/>
        </p:nvSpPr>
        <p:spPr>
          <a:xfrm>
            <a:off x="6126480" y="1188720"/>
            <a:ext cx="25603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o-11"/>
          <p:cNvSpPr txBox="1"/>
          <p:nvPr/>
        </p:nvSpPr>
        <p:spPr>
          <a:xfrm>
            <a:off x="6355080" y="1371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245</a:t>
            </a:r>
            <a:endParaRPr lang="en-US" sz="4000" dirty="0"/>
          </a:p>
        </p:txBody>
      </p:sp>
      <p:sp>
        <p:nvSpPr>
          <p:cNvPr id="13" name="texto-12"/>
          <p:cNvSpPr txBox="1"/>
          <p:nvPr/>
        </p:nvSpPr>
        <p:spPr>
          <a:xfrm>
            <a:off x="635508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créditos al año que dejan de perderse</a:t>
            </a:r>
            <a:endParaRPr lang="en-US" sz="1400" dirty="0"/>
          </a:p>
        </p:txBody>
      </p:sp>
      <p:sp>
        <p:nvSpPr>
          <p:cNvPr id="14" name="texto-13"/>
          <p:cNvSpPr txBox="1"/>
          <p:nvPr/>
        </p:nvSpPr>
        <p:spPr>
          <a:xfrm>
            <a:off x="635508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Beneficio aparte, no monetizado en el ROI</a:t>
            </a:r>
            <a:endParaRPr lang="en-US" sz="1100" dirty="0"/>
          </a:p>
        </p:txBody>
      </p:sp>
      <p:sp>
        <p:nvSpPr>
          <p:cNvPr id="15" name="texto-14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Cómo: </a:t>
            </a:r>
            <a:r>
              <a:rPr lang="en-US" sz="1400" dirty="0">
                <a:solidFill>
                  <a:schemeClr val="tx1"/>
                </a:solidFill>
              </a:rPr>
              <a:t>portal web donde el cliente carga sus documentos, validación automática (completos, legibles, ≤ 20 días) y recogida de originales a domicilio en paralelo.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 12 de los 17 días se van en armar el expediente</a:t>
            </a:r>
            <a:endParaRPr lang="en-US" sz="2600" dirty="0"/>
          </a:p>
        </p:txBody>
      </p:sp>
      <p:sp>
        <p:nvSpPr>
          <p:cNvPr id="3" name="tramo-15"/>
          <p:cNvSpPr/>
          <p:nvPr/>
        </p:nvSpPr>
        <p:spPr>
          <a:xfrm>
            <a:off x="457200" y="1325880"/>
            <a:ext cx="935915" cy="9144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o-16"/>
          <p:cNvSpPr txBox="1"/>
          <p:nvPr/>
        </p:nvSpPr>
        <p:spPr>
          <a:xfrm>
            <a:off x="457200" y="1371600"/>
            <a:ext cx="9359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2 d</a:t>
            </a:r>
            <a:endParaRPr lang="en-US" sz="1600" dirty="0"/>
          </a:p>
        </p:txBody>
      </p:sp>
      <p:sp>
        <p:nvSpPr>
          <p:cNvPr id="5" name="texto-17"/>
          <p:cNvSpPr txBox="1"/>
          <p:nvPr/>
        </p:nvSpPr>
        <p:spPr>
          <a:xfrm>
            <a:off x="502920" y="1755648"/>
            <a:ext cx="844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Crear y evaluar</a:t>
            </a:r>
            <a:endParaRPr lang="en-US" sz="1000" dirty="0"/>
          </a:p>
        </p:txBody>
      </p:sp>
      <p:sp>
        <p:nvSpPr>
          <p:cNvPr id="6" name="tramo-18"/>
          <p:cNvSpPr/>
          <p:nvPr/>
        </p:nvSpPr>
        <p:spPr>
          <a:xfrm>
            <a:off x="1447979" y="1325880"/>
            <a:ext cx="935915" cy="9144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o-19"/>
          <p:cNvSpPr txBox="1"/>
          <p:nvPr/>
        </p:nvSpPr>
        <p:spPr>
          <a:xfrm>
            <a:off x="1447979" y="1371600"/>
            <a:ext cx="9359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2 d</a:t>
            </a:r>
            <a:endParaRPr lang="en-US" sz="1600" dirty="0"/>
          </a:p>
        </p:txBody>
      </p:sp>
      <p:sp>
        <p:nvSpPr>
          <p:cNvPr id="8" name="texto-20"/>
          <p:cNvSpPr txBox="1"/>
          <p:nvPr/>
        </p:nvSpPr>
        <p:spPr>
          <a:xfrm>
            <a:off x="1493699" y="1755648"/>
            <a:ext cx="844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Analizar crédito</a:t>
            </a:r>
            <a:endParaRPr lang="en-US" sz="1000" dirty="0"/>
          </a:p>
        </p:txBody>
      </p:sp>
      <p:sp>
        <p:nvSpPr>
          <p:cNvPr id="9" name="tramo-21"/>
          <p:cNvSpPr/>
          <p:nvPr/>
        </p:nvSpPr>
        <p:spPr>
          <a:xfrm>
            <a:off x="2438759" y="1325880"/>
            <a:ext cx="2339788" cy="9144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o-22"/>
          <p:cNvSpPr txBox="1"/>
          <p:nvPr/>
        </p:nvSpPr>
        <p:spPr>
          <a:xfrm>
            <a:off x="2438759" y="1371600"/>
            <a:ext cx="23397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5 d</a:t>
            </a:r>
            <a:endParaRPr lang="en-US" sz="1600" dirty="0"/>
          </a:p>
        </p:txBody>
      </p:sp>
      <p:sp>
        <p:nvSpPr>
          <p:cNvPr id="11" name="texto-23"/>
          <p:cNvSpPr txBox="1"/>
          <p:nvPr/>
        </p:nvSpPr>
        <p:spPr>
          <a:xfrm>
            <a:off x="2484479" y="1755648"/>
            <a:ext cx="2248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Recopilar expediente</a:t>
            </a:r>
            <a:endParaRPr lang="en-US" sz="1000" dirty="0"/>
          </a:p>
        </p:txBody>
      </p:sp>
      <p:sp>
        <p:nvSpPr>
          <p:cNvPr id="12" name="tramo-24"/>
          <p:cNvSpPr/>
          <p:nvPr/>
        </p:nvSpPr>
        <p:spPr>
          <a:xfrm>
            <a:off x="4833411" y="1325880"/>
            <a:ext cx="1403873" cy="9144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o-25"/>
          <p:cNvSpPr txBox="1"/>
          <p:nvPr/>
        </p:nvSpPr>
        <p:spPr>
          <a:xfrm>
            <a:off x="4833411" y="1371600"/>
            <a:ext cx="14038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 d</a:t>
            </a:r>
            <a:endParaRPr lang="en-US" sz="1600" dirty="0"/>
          </a:p>
        </p:txBody>
      </p:sp>
      <p:sp>
        <p:nvSpPr>
          <p:cNvPr id="14" name="texto-26"/>
          <p:cNvSpPr txBox="1"/>
          <p:nvPr/>
        </p:nvSpPr>
        <p:spPr>
          <a:xfrm>
            <a:off x="4879131" y="1755648"/>
            <a:ext cx="13124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Escanear</a:t>
            </a:r>
            <a:endParaRPr lang="en-US" sz="1000" dirty="0"/>
          </a:p>
        </p:txBody>
      </p:sp>
      <p:sp>
        <p:nvSpPr>
          <p:cNvPr id="15" name="tramo-27"/>
          <p:cNvSpPr/>
          <p:nvPr/>
        </p:nvSpPr>
        <p:spPr>
          <a:xfrm>
            <a:off x="6292148" y="1325880"/>
            <a:ext cx="1871831" cy="9144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o-28"/>
          <p:cNvSpPr txBox="1"/>
          <p:nvPr/>
        </p:nvSpPr>
        <p:spPr>
          <a:xfrm>
            <a:off x="6292148" y="1371600"/>
            <a:ext cx="18718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 d</a:t>
            </a:r>
            <a:endParaRPr lang="en-US" sz="1600" dirty="0"/>
          </a:p>
        </p:txBody>
      </p:sp>
      <p:sp>
        <p:nvSpPr>
          <p:cNvPr id="17" name="texto-29"/>
          <p:cNvSpPr txBox="1"/>
          <p:nvPr/>
        </p:nvSpPr>
        <p:spPr>
          <a:xfrm>
            <a:off x="6337868" y="1755648"/>
            <a:ext cx="17803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Verificar y trasladar</a:t>
            </a:r>
            <a:endParaRPr lang="en-US" sz="1000" dirty="0"/>
          </a:p>
        </p:txBody>
      </p:sp>
      <p:sp>
        <p:nvSpPr>
          <p:cNvPr id="18" name="tramo-30"/>
          <p:cNvSpPr/>
          <p:nvPr/>
        </p:nvSpPr>
        <p:spPr>
          <a:xfrm>
            <a:off x="8218842" y="1325880"/>
            <a:ext cx="467958" cy="9144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o-31"/>
          <p:cNvSpPr txBox="1"/>
          <p:nvPr/>
        </p:nvSpPr>
        <p:spPr>
          <a:xfrm>
            <a:off x="8218842" y="1371600"/>
            <a:ext cx="467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1 d</a:t>
            </a:r>
            <a:endParaRPr lang="en-US" sz="1600" dirty="0"/>
          </a:p>
        </p:txBody>
      </p:sp>
      <p:sp>
        <p:nvSpPr>
          <p:cNvPr id="20" name="texto-32"/>
          <p:cNvSpPr txBox="1"/>
          <p:nvPr/>
        </p:nvSpPr>
        <p:spPr>
          <a:xfrm>
            <a:off x="8264562" y="1755648"/>
            <a:ext cx="3765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Desembolsar</a:t>
            </a:r>
            <a:endParaRPr lang="en-US" sz="1000" dirty="0"/>
          </a:p>
        </p:txBody>
      </p:sp>
      <p:sp>
        <p:nvSpPr>
          <p:cNvPr id="21" name="texto-33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Camino feliz: 17 días hábiles · tramo de expediente (rojo): 12 días, 71 %</a:t>
            </a:r>
            <a:endParaRPr lang="en-US" sz="1100" dirty="0"/>
          </a:p>
        </p:txBody>
      </p:sp>
      <p:sp>
        <p:nvSpPr>
          <p:cNvPr id="22" name="texto-34"/>
          <p:cNvSpPr txBox="1"/>
          <p:nvPr/>
        </p:nvSpPr>
        <p:spPr>
          <a:xfrm>
            <a:off x="457200" y="27889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</a:t>
            </a:r>
            <a:endParaRPr lang="en-US" sz="2400" dirty="0"/>
          </a:p>
        </p:txBody>
      </p:sp>
      <p:sp>
        <p:nvSpPr>
          <p:cNvPr id="23" name="texto-35"/>
          <p:cNvSpPr txBox="1"/>
          <p:nvPr/>
        </p:nvSpPr>
        <p:spPr>
          <a:xfrm>
            <a:off x="1645920" y="27889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 los expedientes vuelve de Despacho a Legal y repite 12 días: el expediente promedia ≈ 15 días</a:t>
            </a:r>
            <a:endParaRPr lang="en-US" sz="1400" dirty="0"/>
          </a:p>
        </p:txBody>
      </p:sp>
      <p:sp>
        <p:nvSpPr>
          <p:cNvPr id="24" name="texto-36"/>
          <p:cNvSpPr txBox="1"/>
          <p:nvPr/>
        </p:nvSpPr>
        <p:spPr>
          <a:xfrm>
            <a:off x="457200" y="341071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2400" dirty="0"/>
          </a:p>
        </p:txBody>
      </p:sp>
      <p:sp>
        <p:nvSpPr>
          <p:cNvPr id="25" name="texto-37"/>
          <p:cNvSpPr txBox="1"/>
          <p:nvPr/>
        </p:nvSpPr>
        <p:spPr>
          <a:xfrm>
            <a:off x="1645920" y="3410712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 cierra por vencer los 10 días hábiles: ≈ 336 créditos perdidos al año</a:t>
            </a:r>
            <a:endParaRPr lang="en-US" sz="1400" dirty="0"/>
          </a:p>
        </p:txBody>
      </p:sp>
      <p:sp>
        <p:nvSpPr>
          <p:cNvPr id="26" name="texto-38"/>
          <p:cNvSpPr txBox="1"/>
          <p:nvPr/>
        </p:nvSpPr>
        <p:spPr>
          <a:xfrm>
            <a:off x="457200" y="403250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 d</a:t>
            </a:r>
            <a:endParaRPr lang="en-US" sz="2400" dirty="0"/>
          </a:p>
        </p:txBody>
      </p:sp>
      <p:sp>
        <p:nvSpPr>
          <p:cNvPr id="27" name="texto-39"/>
          <p:cNvSpPr txBox="1"/>
          <p:nvPr/>
        </p:nvSpPr>
        <p:spPr>
          <a:xfrm>
            <a:off x="1645920" y="4032504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 los 12 son trabajo identificado; el resto es espera, escaneo lento y traslado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problemas explican la demora y la pérdida de créditos</a:t>
            </a:r>
            <a:endParaRPr lang="en-US" sz="2600" dirty="0"/>
          </a:p>
        </p:txBody>
      </p:sp>
      <p:sp>
        <p:nvSpPr>
          <p:cNvPr id="3" name="tarjeta-40"/>
          <p:cNvSpPr/>
          <p:nvPr/>
        </p:nvSpPr>
        <p:spPr>
          <a:xfrm>
            <a:off x="45720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insignia-41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insignia-texto-42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o-43"/>
          <p:cNvSpPr txBox="1"/>
          <p:nvPr/>
        </p:nvSpPr>
        <p:spPr>
          <a:xfrm>
            <a:off x="1188720" y="13716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P-01</a:t>
            </a:r>
            <a:endParaRPr lang="en-US" sz="1200" dirty="0"/>
          </a:p>
        </p:txBody>
      </p:sp>
      <p:sp>
        <p:nvSpPr>
          <p:cNvPr id="7" name="texto-44"/>
          <p:cNvSpPr txBox="1"/>
          <p:nvPr/>
        </p:nvSpPr>
        <p:spPr>
          <a:xfrm>
            <a:off x="68580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Devoluciones de Despacho</a:t>
            </a:r>
            <a:endParaRPr lang="en-US" sz="1500" dirty="0"/>
          </a:p>
        </p:txBody>
      </p:sp>
      <p:sp>
        <p:nvSpPr>
          <p:cNvPr id="8" name="texto-45"/>
          <p:cNvSpPr txBox="1"/>
          <p:nvPr/>
        </p:nvSpPr>
        <p:spPr>
          <a:xfrm>
            <a:off x="685800" y="22860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Documentos vencidos (&gt; 1 mes) o ilegibles. Legal revisa la vigencia solo al recibir y el error se detecta al final del tramo.</a:t>
            </a:r>
            <a:endParaRPr lang="en-US" sz="1100" dirty="0"/>
          </a:p>
        </p:txBody>
      </p:sp>
      <p:sp>
        <p:nvSpPr>
          <p:cNvPr id="9" name="texto-46"/>
          <p:cNvSpPr txBox="1"/>
          <p:nvPr/>
        </p:nvSpPr>
        <p:spPr>
          <a:xfrm>
            <a:off x="685800" y="3703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Causa raíz: expediente en papel y en serie; la vigencia se consume en esperas</a:t>
            </a:r>
            <a:endParaRPr lang="en-US" sz="1000" dirty="0"/>
          </a:p>
        </p:txBody>
      </p:sp>
      <p:sp>
        <p:nvSpPr>
          <p:cNvPr id="10" name="tarjeta-47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insignia-48"/>
          <p:cNvSpPr/>
          <p:nvPr/>
        </p:nvSpPr>
        <p:spPr>
          <a:xfrm>
            <a:off x="3520440" y="13716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insignia-texto-49"/>
          <p:cNvSpPr txBox="1"/>
          <p:nvPr/>
        </p:nvSpPr>
        <p:spPr>
          <a:xfrm>
            <a:off x="35204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o-50"/>
          <p:cNvSpPr txBox="1"/>
          <p:nvPr/>
        </p:nvSpPr>
        <p:spPr>
          <a:xfrm>
            <a:off x="4023360" y="13716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P-02</a:t>
            </a:r>
            <a:endParaRPr lang="en-US" sz="1200" dirty="0"/>
          </a:p>
        </p:txBody>
      </p:sp>
      <p:sp>
        <p:nvSpPr>
          <p:cNvPr id="14" name="texto-51"/>
          <p:cNvSpPr txBox="1"/>
          <p:nvPr/>
        </p:nvSpPr>
        <p:spPr>
          <a:xfrm>
            <a:off x="35204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Expediente de 12 días</a:t>
            </a:r>
            <a:endParaRPr lang="en-US" sz="1500" dirty="0"/>
          </a:p>
        </p:txBody>
      </p:sp>
      <p:sp>
        <p:nvSpPr>
          <p:cNvPr id="15" name="texto-52"/>
          <p:cNvSpPr txBox="1"/>
          <p:nvPr/>
        </p:nvSpPr>
        <p:spPr>
          <a:xfrm>
            <a:off x="3520440" y="22860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La mitad de la recopilación es esperar documentos del cliente o del concesionario; el escaneo es lento; Despacho espera al mensajero.</a:t>
            </a:r>
            <a:endParaRPr lang="en-US" sz="1100" dirty="0"/>
          </a:p>
        </p:txBody>
      </p:sp>
      <p:sp>
        <p:nvSpPr>
          <p:cNvPr id="16" name="texto-53"/>
          <p:cNvSpPr txBox="1"/>
          <p:nvPr/>
        </p:nvSpPr>
        <p:spPr>
          <a:xfrm>
            <a:off x="3520440" y="3703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 concesionario actúa como intermediario de documentos</a:t>
            </a:r>
            <a:endParaRPr lang="en-US" sz="1000" dirty="0"/>
          </a:p>
        </p:txBody>
      </p:sp>
      <p:sp>
        <p:nvSpPr>
          <p:cNvPr id="17" name="tarjeta-54"/>
          <p:cNvSpPr/>
          <p:nvPr/>
        </p:nvSpPr>
        <p:spPr>
          <a:xfrm>
            <a:off x="612648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insignia-55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insignia-texto-56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o-57"/>
          <p:cNvSpPr txBox="1"/>
          <p:nvPr/>
        </p:nvSpPr>
        <p:spPr>
          <a:xfrm>
            <a:off x="6858000" y="13716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P-03</a:t>
            </a:r>
            <a:endParaRPr lang="en-US" sz="1200" dirty="0"/>
          </a:p>
        </p:txBody>
      </p:sp>
      <p:sp>
        <p:nvSpPr>
          <p:cNvPr id="21" name="texto-58"/>
          <p:cNvSpPr txBox="1"/>
          <p:nvPr/>
        </p:nvSpPr>
        <p:spPr>
          <a:xfrm>
            <a:off x="635508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Cliente sin visibilidad</a:t>
            </a:r>
            <a:endParaRPr lang="en-US" sz="1500" dirty="0"/>
          </a:p>
        </p:txBody>
      </p:sp>
      <p:sp>
        <p:nvSpPr>
          <p:cNvPr id="22" name="texto-59"/>
          <p:cNvSpPr txBox="1"/>
          <p:nvPr/>
        </p:nvSpPr>
        <p:spPr>
          <a:xfrm>
            <a:off x="6355080" y="22860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El cliente solo sabe de su solicitud cuando el Analista le comunica la decisión. No hay otro punto de contacto.</a:t>
            </a:r>
            <a:endParaRPr lang="en-US" sz="1100" dirty="0"/>
          </a:p>
        </p:txBody>
      </p:sp>
      <p:sp>
        <p:nvSpPr>
          <p:cNvPr id="23" name="texto-60"/>
          <p:cNvSpPr txBox="1"/>
          <p:nvPr/>
        </p:nvSpPr>
        <p:spPr>
          <a:xfrm>
            <a:off x="6355080" y="3703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Dolor principal declarado por el cliente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aprobó el paquete A: portal, validación, recogida y estado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4937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-61"/>
          <p:cNvSpPr/>
          <p:nvPr/>
        </p:nvSpPr>
        <p:spPr>
          <a:xfrm>
            <a:off x="5577840" y="118872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62"/>
          <p:cNvSpPr txBox="1"/>
          <p:nvPr/>
        </p:nvSpPr>
        <p:spPr>
          <a:xfrm>
            <a:off x="580644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Decisión (ronda 6)</a:t>
            </a:r>
            <a:endParaRPr lang="en-US" sz="1500" dirty="0"/>
          </a:p>
        </p:txBody>
      </p:sp>
      <p:sp>
        <p:nvSpPr>
          <p:cNvPr id="6" name="texto-63"/>
          <p:cNvSpPr txBox="1"/>
          <p:nvPr/>
        </p:nvSpPr>
        <p:spPr>
          <a:xfrm>
            <a:off x="5806440" y="1783080"/>
            <a:ext cx="2697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OPP-01 y OPP-02 se necesitan entre sí: sin documento digital no hay validación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OPP-04 cumple la regla de originales en físico sin volver a la ruta lenta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OPP-03 no reduce días, pero ataca el dolor del cliente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OPP-05 descartada: acelera un escaneo que pierde sentido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TO-BE saca el papel de la ruta crítica</a:t>
            </a:r>
            <a:endParaRPr lang="en-US" sz="2600" dirty="0"/>
          </a:p>
        </p:txBody>
      </p:sp>
      <p:sp>
        <p:nvSpPr>
          <p:cNvPr id="3" name="paso-64"/>
          <p:cNvSpPr/>
          <p:nvPr/>
        </p:nvSpPr>
        <p:spPr>
          <a:xfrm>
            <a:off x="457200" y="2148840"/>
            <a:ext cx="13716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o-65"/>
          <p:cNvSpPr txBox="1"/>
          <p:nvPr/>
        </p:nvSpPr>
        <p:spPr>
          <a:xfrm>
            <a:off x="530352" y="214884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Cliente acepta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enlace por correo</a:t>
            </a:r>
            <a:endParaRPr lang="en-US" sz="1200" dirty="0"/>
          </a:p>
        </p:txBody>
      </p:sp>
      <p:sp>
        <p:nvSpPr>
          <p:cNvPr id="5" name="paso-66"/>
          <p:cNvSpPr/>
          <p:nvPr/>
        </p:nvSpPr>
        <p:spPr>
          <a:xfrm>
            <a:off x="2103120" y="214884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o-67"/>
          <p:cNvSpPr txBox="1"/>
          <p:nvPr/>
        </p:nvSpPr>
        <p:spPr>
          <a:xfrm>
            <a:off x="2176272" y="214884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Carga y validación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automática · ≈ 2 d</a:t>
            </a:r>
            <a:endParaRPr lang="en-US" sz="1200" dirty="0"/>
          </a:p>
        </p:txBody>
      </p:sp>
      <p:sp>
        <p:nvSpPr>
          <p:cNvPr id="7" name="paso-68"/>
          <p:cNvSpPr/>
          <p:nvPr/>
        </p:nvSpPr>
        <p:spPr>
          <a:xfrm>
            <a:off x="4206240" y="12344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o-69"/>
          <p:cNvSpPr txBox="1"/>
          <p:nvPr/>
        </p:nvSpPr>
        <p:spPr>
          <a:xfrm>
            <a:off x="4279392" y="123444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Verificación digital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Despacho · ≈ 1 d</a:t>
            </a:r>
            <a:endParaRPr lang="en-US" sz="1200" dirty="0"/>
          </a:p>
        </p:txBody>
      </p:sp>
      <p:sp>
        <p:nvSpPr>
          <p:cNvPr id="9" name="paso-70"/>
          <p:cNvSpPr/>
          <p:nvPr/>
        </p:nvSpPr>
        <p:spPr>
          <a:xfrm>
            <a:off x="4206240" y="30632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o-71"/>
          <p:cNvSpPr txBox="1"/>
          <p:nvPr/>
        </p:nvSpPr>
        <p:spPr>
          <a:xfrm>
            <a:off x="4279392" y="306324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Recoger, escanear, trasladar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mensajero · ≈ 4 d</a:t>
            </a:r>
            <a:endParaRPr lang="en-US" sz="1200" dirty="0"/>
          </a:p>
        </p:txBody>
      </p:sp>
      <p:sp>
        <p:nvSpPr>
          <p:cNvPr id="11" name="paso-72"/>
          <p:cNvSpPr/>
          <p:nvPr/>
        </p:nvSpPr>
        <p:spPr>
          <a:xfrm>
            <a:off x="6766560" y="2148840"/>
            <a:ext cx="19202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o-73"/>
          <p:cNvSpPr txBox="1"/>
          <p:nvPr/>
        </p:nvSpPr>
        <p:spPr>
          <a:xfrm>
            <a:off x="6839712" y="214884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Desembolso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cuando ambas ramas terminan</a:t>
            </a:r>
            <a:endParaRPr lang="en-US" sz="1200" dirty="0"/>
          </a:p>
        </p:txBody>
      </p:sp>
      <p:sp>
        <p:nvSpPr>
          <p:cNvPr id="13" name="flecha-74"/>
          <p:cNvSpPr/>
          <p:nvPr/>
        </p:nvSpPr>
        <p:spPr>
          <a:xfrm>
            <a:off x="1828800" y="2560320"/>
            <a:ext cx="274320" cy="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4" name="flecha-75"/>
          <p:cNvSpPr/>
          <p:nvPr/>
        </p:nvSpPr>
        <p:spPr>
          <a:xfrm flipV="1">
            <a:off x="3840480" y="1645920"/>
            <a:ext cx="365760" cy="77724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5" name="flecha-76"/>
          <p:cNvSpPr/>
          <p:nvPr/>
        </p:nvSpPr>
        <p:spPr>
          <a:xfrm>
            <a:off x="3840480" y="2697480"/>
            <a:ext cx="365760" cy="77724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6" name="flecha-77"/>
          <p:cNvSpPr/>
          <p:nvPr/>
        </p:nvSpPr>
        <p:spPr>
          <a:xfrm>
            <a:off x="6400800" y="1645920"/>
            <a:ext cx="365760" cy="77724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7" name="flecha-78"/>
          <p:cNvSpPr/>
          <p:nvPr/>
        </p:nvSpPr>
        <p:spPr>
          <a:xfrm flipV="1">
            <a:off x="6400800" y="2697480"/>
            <a:ext cx="365760" cy="77724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o-79"/>
          <p:cNvSpPr txBox="1"/>
          <p:nvPr/>
        </p:nvSpPr>
        <p:spPr>
          <a:xfrm>
            <a:off x="457200" y="1280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Expediente ≈ 6 días hábiles (antes 12)</a:t>
            </a:r>
            <a:endParaRPr lang="en-US" sz="1800" dirty="0"/>
          </a:p>
        </p:txBody>
      </p:sp>
      <p:sp>
        <p:nvSpPr>
          <p:cNvPr id="19" name="chip-80"/>
          <p:cNvSpPr/>
          <p:nvPr/>
        </p:nvSpPr>
        <p:spPr>
          <a:xfrm>
            <a:off x="457200" y="4114800"/>
            <a:ext cx="19202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o-81"/>
          <p:cNvSpPr txBox="1"/>
          <p:nvPr/>
        </p:nvSpPr>
        <p:spPr>
          <a:xfrm>
            <a:off x="548640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Legal revisa solo los casos dudosos</a:t>
            </a:r>
            <a:endParaRPr lang="en-US" sz="1000" dirty="0"/>
          </a:p>
        </p:txBody>
      </p:sp>
      <p:sp>
        <p:nvSpPr>
          <p:cNvPr id="21" name="chip-82"/>
          <p:cNvSpPr/>
          <p:nvPr/>
        </p:nvSpPr>
        <p:spPr>
          <a:xfrm>
            <a:off x="2542032" y="4114800"/>
            <a:ext cx="19202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o-83"/>
          <p:cNvSpPr txBox="1"/>
          <p:nvPr/>
        </p:nvSpPr>
        <p:spPr>
          <a:xfrm>
            <a:off x="2633472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Hasta 5 intentos por documento</a:t>
            </a:r>
            <a:endParaRPr lang="en-US" sz="1000" dirty="0"/>
          </a:p>
        </p:txBody>
      </p:sp>
      <p:sp>
        <p:nvSpPr>
          <p:cNvPr id="23" name="chip-84"/>
          <p:cNvSpPr/>
          <p:nvPr/>
        </p:nvSpPr>
        <p:spPr>
          <a:xfrm>
            <a:off x="4626864" y="4114800"/>
            <a:ext cx="19202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o-85"/>
          <p:cNvSpPr txBox="1"/>
          <p:nvPr/>
        </p:nvSpPr>
        <p:spPr>
          <a:xfrm>
            <a:off x="4718304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Estado visible en cada hito</a:t>
            </a:r>
            <a:endParaRPr lang="en-US" sz="1000" dirty="0"/>
          </a:p>
        </p:txBody>
      </p:sp>
      <p:sp>
        <p:nvSpPr>
          <p:cNvPr id="25" name="chip-86"/>
          <p:cNvSpPr/>
          <p:nvPr/>
        </p:nvSpPr>
        <p:spPr>
          <a:xfrm>
            <a:off x="6711696" y="4114800"/>
            <a:ext cx="19202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o-87"/>
          <p:cNvSpPr txBox="1"/>
          <p:nvPr/>
        </p:nvSpPr>
        <p:spPr>
          <a:xfrm>
            <a:off x="6803136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Si el portal falla: ruta en papel</a:t>
            </a:r>
            <a:endParaRPr lang="en-US" sz="10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Recordatorios y llamada recuperan 57 créditos más al año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475488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-88"/>
          <p:cNvSpPr/>
          <p:nvPr/>
        </p:nvSpPr>
        <p:spPr>
          <a:xfrm>
            <a:off x="5394960" y="1188720"/>
            <a:ext cx="329184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89"/>
          <p:cNvSpPr txBox="1"/>
          <p:nvPr/>
        </p:nvSpPr>
        <p:spPr>
          <a:xfrm>
            <a:off x="5623560" y="1371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Medidas (ronda 14)</a:t>
            </a:r>
            <a:endParaRPr lang="en-US" sz="1500" dirty="0"/>
          </a:p>
        </p:txBody>
      </p:sp>
      <p:sp>
        <p:nvSpPr>
          <p:cNvPr id="6" name="texto-90"/>
          <p:cNvSpPr txBox="1"/>
          <p:nvPr/>
        </p:nvSpPr>
        <p:spPr>
          <a:xfrm>
            <a:off x="5623560" y="17830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Recordatorios en los días hábiles 3 y 6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Llamada del Analista el día 8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Lista de documentos al crear la solicitud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Carga asistida en el stand de la feria</a:t>
            </a:r>
            <a:endParaRPr lang="en-US" sz="1200" dirty="0"/>
          </a:p>
        </p:txBody>
      </p:sp>
      <p:sp>
        <p:nvSpPr>
          <p:cNvPr id="7" name="texto-91"/>
          <p:cNvSpPr txBox="1"/>
          <p:nvPr/>
        </p:nvSpPr>
        <p:spPr>
          <a:xfrm>
            <a:off x="5623560" y="34290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245 créditos menos perdidos frente al AS-IS. No se suman al ROI: se reportan como beneficio aparte.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KPI miden el cambio; los datos sintéticos ya los cumplen</a:t>
            </a:r>
            <a:endParaRPr lang="en-US" sz="2600" dirty="0"/>
          </a:p>
        </p:txBody>
      </p:sp>
      <p:graphicFrame>
        <p:nvGraphicFramePr>
          <p:cNvPr id="9" name="tabla-kp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19456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KPI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Línea base AS-IS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Meta TO-BE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Sintético TO-BE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KPI-01 Ciclo del expediente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≈ 15 días hábiles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≤ 6 días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7,8 días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KPI-02 Devolución de Despacho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≤ 5 %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KPI-03 Cierre por vencimiento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≤ 5 %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2,8 %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KPI-04 Uso efectivo del portal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≥ 80 %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tablero Preset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arjeta-92"/>
          <p:cNvSpPr/>
          <p:nvPr/>
        </p:nvSpPr>
        <p:spPr>
          <a:xfrm>
            <a:off x="457200" y="361188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93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Lectura: </a:t>
            </a:r>
            <a:r>
              <a:rPr lang="en-US" sz="1200" dirty="0">
                <a:solidFill>
                  <a:schemeClr val="tx1"/>
                </a:solidFill>
              </a:rPr>
              <a:t>KPI-01 y KPI-02 quedan cerca de la meta pero no la alcanzan en los datos sintéticos. Las metas son propuestas y debe validarlas el Gerente de crédito (dueño de los KPI). Tablero publicado en Preset y validado.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versión mínima del portal es la única opción con ROI positivo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4937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-94"/>
          <p:cNvSpPr/>
          <p:nvPr/>
        </p:nvSpPr>
        <p:spPr>
          <a:xfrm>
            <a:off x="5577840" y="118872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95"/>
          <p:cNvSpPr txBox="1"/>
          <p:nvPr/>
        </p:nvSpPr>
        <p:spPr>
          <a:xfrm>
            <a:off x="5806440" y="1371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RD$ 1,0 M</a:t>
            </a:r>
            <a:endParaRPr lang="en-US" sz="2200" dirty="0"/>
          </a:p>
        </p:txBody>
      </p:sp>
      <p:sp>
        <p:nvSpPr>
          <p:cNvPr id="6" name="texto-96"/>
          <p:cNvSpPr txBox="1"/>
          <p:nvPr/>
        </p:nvSpPr>
        <p:spPr>
          <a:xfrm>
            <a:off x="5806440" y="17556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inversión</a:t>
            </a:r>
            <a:endParaRPr lang="en-US" sz="1100" dirty="0"/>
          </a:p>
        </p:txBody>
      </p:sp>
      <p:sp>
        <p:nvSpPr>
          <p:cNvPr id="7" name="texto-97"/>
          <p:cNvSpPr txBox="1"/>
          <p:nvPr/>
        </p:nvSpPr>
        <p:spPr>
          <a:xfrm>
            <a:off x="5806440" y="2057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RD$ 1,19 M</a:t>
            </a:r>
            <a:endParaRPr lang="en-US" sz="2200" dirty="0"/>
          </a:p>
        </p:txBody>
      </p:sp>
      <p:sp>
        <p:nvSpPr>
          <p:cNvPr id="8" name="texto-98"/>
          <p:cNvSpPr txBox="1"/>
          <p:nvPr/>
        </p:nvSpPr>
        <p:spPr>
          <a:xfrm>
            <a:off x="5806440" y="24414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beneficio neto anual</a:t>
            </a:r>
            <a:endParaRPr lang="en-US" sz="1100" dirty="0"/>
          </a:p>
        </p:txBody>
      </p:sp>
      <p:sp>
        <p:nvSpPr>
          <p:cNvPr id="9" name="texto-99"/>
          <p:cNvSpPr txBox="1"/>
          <p:nvPr/>
        </p:nvSpPr>
        <p:spPr>
          <a:xfrm>
            <a:off x="580644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10,1 meses</a:t>
            </a:r>
            <a:endParaRPr lang="en-US" sz="2200" dirty="0"/>
          </a:p>
        </p:txBody>
      </p:sp>
      <p:sp>
        <p:nvSpPr>
          <p:cNvPr id="10" name="texto-100"/>
          <p:cNvSpPr txBox="1"/>
          <p:nvPr/>
        </p:nvSpPr>
        <p:spPr>
          <a:xfrm>
            <a:off x="5806440" y="31272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recuperación</a:t>
            </a:r>
            <a:endParaRPr lang="en-US" sz="1100" dirty="0"/>
          </a:p>
        </p:txBody>
      </p:sp>
      <p:sp>
        <p:nvSpPr>
          <p:cNvPr id="11" name="texto-101"/>
          <p:cNvSpPr txBox="1"/>
          <p:nvPr/>
        </p:nvSpPr>
        <p:spPr>
          <a:xfrm>
            <a:off x="5806440" y="35204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Sensibilidad: conservador −76,7 % · optimista +161,5 %. Sin la Opción 2 el ROI base cae a −70,8 %.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caso de negocio se sostiene solo si se cumplen tres condiciones</a:t>
            </a:r>
            <a:endParaRPr lang="en-US" sz="2600" dirty="0"/>
          </a:p>
        </p:txBody>
      </p:sp>
      <p:sp>
        <p:nvSpPr>
          <p:cNvPr id="3" name="tarjeta-102"/>
          <p:cNvSpPr/>
          <p:nvPr/>
        </p:nvSpPr>
        <p:spPr>
          <a:xfrm>
            <a:off x="457200" y="118872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insignia-103"/>
          <p:cNvSpPr/>
          <p:nvPr/>
        </p:nvSpPr>
        <p:spPr>
          <a:xfrm>
            <a:off x="685800" y="145389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insignia-texto-104"/>
          <p:cNvSpPr txBox="1"/>
          <p:nvPr/>
        </p:nvSpPr>
        <p:spPr>
          <a:xfrm>
            <a:off x="685800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o-105"/>
          <p:cNvSpPr txBox="1"/>
          <p:nvPr/>
        </p:nvSpPr>
        <p:spPr>
          <a:xfrm>
            <a:off x="1280160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Comprometer la Opción 2</a:t>
            </a:r>
            <a:endParaRPr lang="en-US" sz="1500" dirty="0"/>
          </a:p>
        </p:txBody>
      </p:sp>
      <p:sp>
        <p:nvSpPr>
          <p:cNvPr id="7" name="texto-106"/>
          <p:cNvSpPr txBox="1"/>
          <p:nvPr/>
        </p:nvSpPr>
        <p:spPr>
          <a:xfrm>
            <a:off x="1280160" y="162763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No reponer o reasignar los ≈ 2,7 puestos liberados fuera de feria. Sin esto, el ROI base es −70,8 %.</a:t>
            </a:r>
            <a:endParaRPr lang="en-US" sz="1200" dirty="0"/>
          </a:p>
        </p:txBody>
      </p:sp>
      <p:sp>
        <p:nvSpPr>
          <p:cNvPr id="8" name="tarjeta-107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insignia-108"/>
          <p:cNvSpPr/>
          <p:nvPr/>
        </p:nvSpPr>
        <p:spPr>
          <a:xfrm>
            <a:off x="685800" y="255117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insignia-texto-109"/>
          <p:cNvSpPr txBox="1"/>
          <p:nvPr/>
        </p:nvSpPr>
        <p:spPr>
          <a:xfrm>
            <a:off x="68580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o-110"/>
          <p:cNvSpPr txBox="1"/>
          <p:nvPr/>
        </p:nvSpPr>
        <p:spPr>
          <a:xfrm>
            <a:off x="1280160" y="2395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Medir las horas reales</a:t>
            </a:r>
            <a:endParaRPr lang="en-US" sz="1500" dirty="0"/>
          </a:p>
        </p:txBody>
      </p:sp>
      <p:sp>
        <p:nvSpPr>
          <p:cNvPr id="12" name="texto-111"/>
          <p:cNvSpPr txBox="1"/>
          <p:nvPr/>
        </p:nvSpPr>
        <p:spPr>
          <a:xfrm>
            <a:off x="1280160" y="272491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Las horas por expediente son supuestos. En el escenario conservador el ROI es −76,7 %.</a:t>
            </a:r>
            <a:endParaRPr lang="en-US" sz="1200" dirty="0"/>
          </a:p>
        </p:txBody>
      </p:sp>
      <p:sp>
        <p:nvSpPr>
          <p:cNvPr id="13" name="tarjeta-112"/>
          <p:cNvSpPr/>
          <p:nvPr/>
        </p:nvSpPr>
        <p:spPr>
          <a:xfrm>
            <a:off x="457200" y="338328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insignia-113"/>
          <p:cNvSpPr/>
          <p:nvPr/>
        </p:nvSpPr>
        <p:spPr>
          <a:xfrm>
            <a:off x="685800" y="36484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insignia-texto-114"/>
          <p:cNvSpPr txBox="1"/>
          <p:nvPr/>
        </p:nvSpPr>
        <p:spPr>
          <a:xfrm>
            <a:off x="68580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o-115"/>
          <p:cNvSpPr txBox="1"/>
          <p:nvPr/>
        </p:nvSpPr>
        <p:spPr>
          <a:xfrm>
            <a:off x="1280160" y="3493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Acelerar el escaneo</a:t>
            </a:r>
            <a:endParaRPr lang="en-US" sz="1500" dirty="0"/>
          </a:p>
        </p:txBody>
      </p:sp>
      <p:sp>
        <p:nvSpPr>
          <p:cNvPr id="17" name="texto-116"/>
          <p:cNvSpPr txBox="1"/>
          <p:nvPr/>
        </p:nvSpPr>
        <p:spPr>
          <a:xfrm>
            <a:off x="1280160" y="382219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La rama de originales tarda ≈ 4 días; si el escaneo sigue en 3 días, la meta de 6 queda sin margen.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Recorrido: 27 pasos y 21 rondas de validación con el negocio</a:t>
            </a:r>
            <a:endParaRPr lang="en-US" sz="2600" dirty="0"/>
          </a:p>
        </p:txBody>
      </p:sp>
      <p:sp>
        <p:nvSpPr>
          <p:cNvPr id="3" name="linea-tiempo"/>
          <p:cNvSpPr/>
          <p:nvPr/>
        </p:nvSpPr>
        <p:spPr>
          <a:xfrm>
            <a:off x="822960" y="2203704"/>
            <a:ext cx="7498080" cy="0"/>
          </a:xfrm>
          <a:prstGeom prst="line">
            <a:avLst/>
          </a:prstGeom>
          <a:noFill/>
          <a:ln w="25400">
            <a:solidFill>
              <a:srgbClr val="9DB7B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insignia-117"/>
          <p:cNvSpPr/>
          <p:nvPr/>
        </p:nvSpPr>
        <p:spPr>
          <a:xfrm>
            <a:off x="630936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insignia-texto-118"/>
          <p:cNvSpPr txBox="1"/>
          <p:nvPr/>
        </p:nvSpPr>
        <p:spPr>
          <a:xfrm>
            <a:off x="6309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o-119"/>
          <p:cNvSpPr txBox="1"/>
          <p:nvPr/>
        </p:nvSpPr>
        <p:spPr>
          <a:xfrm>
            <a:off x="4572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1–8</a:t>
            </a:r>
            <a:endParaRPr lang="en-US" sz="1000" dirty="0"/>
          </a:p>
        </p:txBody>
      </p:sp>
      <p:sp>
        <p:nvSpPr>
          <p:cNvPr id="7" name="texto-120"/>
          <p:cNvSpPr txBox="1"/>
          <p:nvPr/>
        </p:nvSpPr>
        <p:spPr>
          <a:xfrm>
            <a:off x="4572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Análisis</a:t>
            </a:r>
            <a:endParaRPr lang="en-US" sz="1400" dirty="0"/>
          </a:p>
        </p:txBody>
      </p:sp>
      <p:sp>
        <p:nvSpPr>
          <p:cNvPr id="8" name="texto-121"/>
          <p:cNvSpPr txBox="1"/>
          <p:nvPr/>
        </p:nvSpPr>
        <p:spPr>
          <a:xfrm>
            <a:off x="4572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Entrevista, requisitos EARS y BPMN AS-IS para Camunda 8.10</a:t>
            </a:r>
            <a:endParaRPr lang="en-US" sz="1100" dirty="0"/>
          </a:p>
        </p:txBody>
      </p:sp>
      <p:sp>
        <p:nvSpPr>
          <p:cNvPr id="9" name="insignia-122"/>
          <p:cNvSpPr/>
          <p:nvPr/>
        </p:nvSpPr>
        <p:spPr>
          <a:xfrm>
            <a:off x="2505456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insignia-texto-123"/>
          <p:cNvSpPr txBox="1"/>
          <p:nvPr/>
        </p:nvSpPr>
        <p:spPr>
          <a:xfrm>
            <a:off x="250545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o-124"/>
          <p:cNvSpPr txBox="1"/>
          <p:nvPr/>
        </p:nvSpPr>
        <p:spPr>
          <a:xfrm>
            <a:off x="192024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9–11</a:t>
            </a:r>
            <a:endParaRPr lang="en-US" sz="1000" dirty="0"/>
          </a:p>
        </p:txBody>
      </p:sp>
      <p:sp>
        <p:nvSpPr>
          <p:cNvPr id="12" name="texto-125"/>
          <p:cNvSpPr txBox="1"/>
          <p:nvPr/>
        </p:nvSpPr>
        <p:spPr>
          <a:xfrm>
            <a:off x="192024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Diagnóstico</a:t>
            </a:r>
            <a:endParaRPr lang="en-US" sz="1400" dirty="0"/>
          </a:p>
        </p:txBody>
      </p:sp>
      <p:sp>
        <p:nvSpPr>
          <p:cNvPr id="13" name="texto-126"/>
          <p:cNvSpPr txBox="1"/>
          <p:nvPr/>
        </p:nvSpPr>
        <p:spPr>
          <a:xfrm>
            <a:off x="192024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Cadena de valor, cinco porqués y priorización</a:t>
            </a:r>
            <a:endParaRPr lang="en-US" sz="1100" dirty="0"/>
          </a:p>
        </p:txBody>
      </p:sp>
      <p:sp>
        <p:nvSpPr>
          <p:cNvPr id="14" name="insignia-127"/>
          <p:cNvSpPr/>
          <p:nvPr/>
        </p:nvSpPr>
        <p:spPr>
          <a:xfrm>
            <a:off x="4379976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insignia-texto-128"/>
          <p:cNvSpPr txBox="1"/>
          <p:nvPr/>
        </p:nvSpPr>
        <p:spPr>
          <a:xfrm>
            <a:off x="43799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o-129"/>
          <p:cNvSpPr txBox="1"/>
          <p:nvPr/>
        </p:nvSpPr>
        <p:spPr>
          <a:xfrm>
            <a:off x="379476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11–12</a:t>
            </a:r>
            <a:endParaRPr lang="en-US" sz="1000" dirty="0"/>
          </a:p>
        </p:txBody>
      </p:sp>
      <p:sp>
        <p:nvSpPr>
          <p:cNvPr id="17" name="texto-130"/>
          <p:cNvSpPr txBox="1"/>
          <p:nvPr/>
        </p:nvSpPr>
        <p:spPr>
          <a:xfrm>
            <a:off x="379476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TO-BE</a:t>
            </a:r>
            <a:endParaRPr lang="en-US" sz="1400" dirty="0"/>
          </a:p>
        </p:txBody>
      </p:sp>
      <p:sp>
        <p:nvSpPr>
          <p:cNvPr id="18" name="texto-131"/>
          <p:cNvSpPr txBox="1"/>
          <p:nvPr/>
        </p:nvSpPr>
        <p:spPr>
          <a:xfrm>
            <a:off x="379476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BPMN TO-BE v03 y catálogo de 4 KPI</a:t>
            </a:r>
            <a:endParaRPr lang="en-US" sz="1100" dirty="0"/>
          </a:p>
        </p:txBody>
      </p:sp>
      <p:sp>
        <p:nvSpPr>
          <p:cNvPr id="19" name="insignia-132"/>
          <p:cNvSpPr/>
          <p:nvPr/>
        </p:nvSpPr>
        <p:spPr>
          <a:xfrm>
            <a:off x="6254496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insignia-texto-133"/>
          <p:cNvSpPr txBox="1"/>
          <p:nvPr/>
        </p:nvSpPr>
        <p:spPr>
          <a:xfrm>
            <a:off x="62544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o-134"/>
          <p:cNvSpPr txBox="1"/>
          <p:nvPr/>
        </p:nvSpPr>
        <p:spPr>
          <a:xfrm>
            <a:off x="566928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13–19</a:t>
            </a:r>
            <a:endParaRPr lang="en-US" sz="1000" dirty="0"/>
          </a:p>
        </p:txBody>
      </p:sp>
      <p:sp>
        <p:nvSpPr>
          <p:cNvPr id="22" name="texto-135"/>
          <p:cNvSpPr txBox="1"/>
          <p:nvPr/>
        </p:nvSpPr>
        <p:spPr>
          <a:xfrm>
            <a:off x="566928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Datos y ROI</a:t>
            </a:r>
            <a:endParaRPr lang="en-US" sz="1400" dirty="0"/>
          </a:p>
        </p:txBody>
      </p:sp>
      <p:sp>
        <p:nvSpPr>
          <p:cNvPr id="23" name="texto-136"/>
          <p:cNvSpPr txBox="1"/>
          <p:nvPr/>
        </p:nvSpPr>
        <p:spPr>
          <a:xfrm>
            <a:off x="566928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Datos sintéticos, modelo ROI y tablero Preset</a:t>
            </a:r>
            <a:endParaRPr lang="en-US" sz="1100" dirty="0"/>
          </a:p>
        </p:txBody>
      </p:sp>
      <p:sp>
        <p:nvSpPr>
          <p:cNvPr id="24" name="insignia-137"/>
          <p:cNvSpPr/>
          <p:nvPr/>
        </p:nvSpPr>
        <p:spPr>
          <a:xfrm>
            <a:off x="8129016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insignia-texto-138"/>
          <p:cNvSpPr txBox="1"/>
          <p:nvPr/>
        </p:nvSpPr>
        <p:spPr>
          <a:xfrm>
            <a:off x="81290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o-139"/>
          <p:cNvSpPr txBox="1"/>
          <p:nvPr/>
        </p:nvSpPr>
        <p:spPr>
          <a:xfrm>
            <a:off x="754380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20–27</a:t>
            </a:r>
            <a:endParaRPr lang="en-US" sz="1000" dirty="0"/>
          </a:p>
        </p:txBody>
      </p:sp>
      <p:sp>
        <p:nvSpPr>
          <p:cNvPr id="27" name="texto-140"/>
          <p:cNvSpPr txBox="1"/>
          <p:nvPr/>
        </p:nvSpPr>
        <p:spPr>
          <a:xfrm>
            <a:off x="754380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MVP</a:t>
            </a:r>
            <a:endParaRPr lang="en-US" sz="1400" dirty="0"/>
          </a:p>
        </p:txBody>
      </p:sp>
      <p:sp>
        <p:nvSpPr>
          <p:cNvPr id="28" name="texto-141"/>
          <p:cNvSpPr txBox="1"/>
          <p:nvPr/>
        </p:nvSpPr>
        <p:spPr>
          <a:xfrm>
            <a:off x="754380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Alcance, EARS, modelo, BPMN y backlog del MVP</a:t>
            </a:r>
            <a:endParaRPr lang="en-US" sz="1100" dirty="0"/>
          </a:p>
        </p:txBody>
      </p:sp>
      <p:sp>
        <p:nvSpPr>
          <p:cNvPr id="29" name="texto-142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Verde: </a:t>
            </a:r>
            <a:r>
              <a:rPr lang="en-US" sz="1100" dirty="0">
                <a:solidFill>
                  <a:schemeClr val="tx1"/>
                </a:solidFill>
              </a:rPr>
              <a:t>completado y aprobado   </a:t>
            </a:r>
            <a:r>
              <a:rPr lang="en-US" sz="1100" b="1" dirty="0">
                <a:solidFill>
                  <a:schemeClr val="accent2"/>
                </a:solidFill>
              </a:rPr>
              <a:t>Ámbar: </a:t>
            </a:r>
            <a:r>
              <a:rPr lang="en-US" sz="1100" dirty="0">
                <a:solidFill>
                  <a:schemeClr val="tx1"/>
                </a:solidFill>
              </a:rPr>
              <a:t>en curso (despliegue a cargo del equipo técnico; código ya hecho)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MVP demuestra la carga y la verificación digital</a:t>
            </a:r>
            <a:endParaRPr lang="en-US" sz="2600" dirty="0"/>
          </a:p>
        </p:txBody>
      </p:sp>
      <p:sp>
        <p:nvSpPr>
          <p:cNvPr id="3" name="tarjeta-143"/>
          <p:cNvSpPr/>
          <p:nvPr/>
        </p:nvSpPr>
        <p:spPr>
          <a:xfrm>
            <a:off x="457200" y="1188720"/>
            <a:ext cx="384048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o-144"/>
          <p:cNvSpPr txBox="1"/>
          <p:nvPr/>
        </p:nvSpPr>
        <p:spPr>
          <a:xfrm>
            <a:off x="6858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Alcance del MVP</a:t>
            </a:r>
            <a:endParaRPr lang="en-US" sz="1500" dirty="0"/>
          </a:p>
        </p:txBody>
      </p:sp>
      <p:sp>
        <p:nvSpPr>
          <p:cNvPr id="5" name="texto-145"/>
          <p:cNvSpPr txBox="1"/>
          <p:nvPr/>
        </p:nvSpPr>
        <p:spPr>
          <a:xfrm>
            <a:off x="685800" y="173736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Envío del enlace al portal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Carga de los 4 documentos con validación (≤ 20 días, legible, datos coincidentes)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Legal revisa casos dudosos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Despacho verifica el expediente digital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Bitácora exportable a CSV marcada SINTÉTICO</a:t>
            </a:r>
            <a:endParaRPr lang="en-US" sz="1200" dirty="0"/>
          </a:p>
        </p:txBody>
      </p:sp>
      <p:sp>
        <p:nvSpPr>
          <p:cNvPr id="6" name="texto-146"/>
          <p:cNvSpPr txBox="1"/>
          <p:nvPr/>
        </p:nvSpPr>
        <p:spPr>
          <a:xfrm>
            <a:off x="685800" y="397764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Fuera: riesgo, mensajero, desembolso y ruta en papel</a:t>
            </a:r>
            <a:endParaRPr lang="en-US" sz="1000" dirty="0"/>
          </a:p>
        </p:txBody>
      </p:sp>
      <p:graphicFrame>
        <p:nvGraphicFramePr>
          <p:cNvPr id="13" name="tabla-mv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188720"/>
          <a:ext cx="4114800" cy="23042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Tarea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Revisar BPMN del MVP (TEC-01)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Abierta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Desplegar BPMN y probar (TEC-02)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Abierta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Desplegar TO-BE v03 (TEC-03)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Abierta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Demo en Lovable (TEC-04)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Abierta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Código y 48 pruebas (TEC-05)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Completado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o-147"/>
          <p:cNvSpPr txBox="1"/>
          <p:nvPr/>
        </p:nvSpPr>
        <p:spPr>
          <a:xfrm>
            <a:off x="4572000" y="361188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Hecho: documentos digitalizados; verificación automatizada con Camunda. David y Sergio hacen el despliegue. Backlog: INC-1 estado al cliente → INC-2 cierre a 10 días → INC-3 recordatorios.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0972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que se solicitan</a:t>
            </a:r>
            <a:endParaRPr lang="en-US" sz="3800" dirty="0"/>
          </a:p>
        </p:txBody>
      </p:sp>
      <p:sp>
        <p:nvSpPr>
          <p:cNvPr id="3" name="insignia-148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insignia-texto-149"/>
          <p:cNvSpPr txBox="1"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o-150"/>
          <p:cNvSpPr txBox="1"/>
          <p:nvPr/>
        </p:nvSpPr>
        <p:spPr>
          <a:xfrm>
            <a:off x="1051560" y="30632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Aprobar un piloto</a:t>
            </a:r>
            <a:endParaRPr lang="en-US" sz="1500" dirty="0"/>
          </a:p>
        </p:txBody>
      </p:sp>
      <p:sp>
        <p:nvSpPr>
          <p:cNvPr id="6" name="texto-151"/>
          <p:cNvSpPr txBox="1"/>
          <p:nvPr/>
        </p:nvSpPr>
        <p:spPr>
          <a:xfrm>
            <a:off x="1051560" y="34747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de la versión mínima en la feria de febrero, no el portal completo</a:t>
            </a:r>
            <a:endParaRPr lang="en-US" sz="1200" dirty="0"/>
          </a:p>
        </p:txBody>
      </p:sp>
      <p:sp>
        <p:nvSpPr>
          <p:cNvPr id="7" name="insignia-152"/>
          <p:cNvSpPr/>
          <p:nvPr/>
        </p:nvSpPr>
        <p:spPr>
          <a:xfrm>
            <a:off x="3291840" y="3063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insignia-texto-153"/>
          <p:cNvSpPr txBox="1"/>
          <p:nvPr/>
        </p:nvSpPr>
        <p:spPr>
          <a:xfrm>
            <a:off x="32918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o-154"/>
          <p:cNvSpPr txBox="1"/>
          <p:nvPr/>
        </p:nvSpPr>
        <p:spPr>
          <a:xfrm>
            <a:off x="3794760" y="30632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Firmar la Opción 2</a:t>
            </a:r>
            <a:endParaRPr lang="en-US" sz="1500" dirty="0"/>
          </a:p>
        </p:txBody>
      </p:sp>
      <p:sp>
        <p:nvSpPr>
          <p:cNvPr id="10" name="texto-155"/>
          <p:cNvSpPr txBox="1"/>
          <p:nvPr/>
        </p:nvSpPr>
        <p:spPr>
          <a:xfrm>
            <a:off x="3794760" y="34747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Gerente de crédito y RR. HH. se comprometen por escrito con el tiempo liberado</a:t>
            </a:r>
            <a:endParaRPr lang="en-US" sz="1200" dirty="0"/>
          </a:p>
        </p:txBody>
      </p:sp>
      <p:sp>
        <p:nvSpPr>
          <p:cNvPr id="11" name="insignia-156"/>
          <p:cNvSpPr/>
          <p:nvPr/>
        </p:nvSpPr>
        <p:spPr>
          <a:xfrm>
            <a:off x="6035040" y="3063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insignia-texto-157"/>
          <p:cNvSpPr txBox="1"/>
          <p:nvPr/>
        </p:nvSpPr>
        <p:spPr>
          <a:xfrm>
            <a:off x="60350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o-158"/>
          <p:cNvSpPr txBox="1"/>
          <p:nvPr/>
        </p:nvSpPr>
        <p:spPr>
          <a:xfrm>
            <a:off x="6537960" y="30632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Medir en el piloto</a:t>
            </a:r>
            <a:endParaRPr lang="en-US" sz="1500" dirty="0"/>
          </a:p>
        </p:txBody>
      </p:sp>
      <p:sp>
        <p:nvSpPr>
          <p:cNvPr id="14" name="texto-159"/>
          <p:cNvSpPr txBox="1"/>
          <p:nvPr/>
        </p:nvSpPr>
        <p:spPr>
          <a:xfrm>
            <a:off x="6537960" y="34747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KPI-01 a KPI-04 y horas reales por expediente, para decidir si se escala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dito Preaprobado">
  <a:themeElements>
    <a:clrScheme name="Credito Preaprobado">
      <a:dk1>
        <a:srgbClr val="1C2B2D"/>
      </a:dk1>
      <a:lt1>
        <a:srgbClr val="FFFFFF"/>
      </a:lt1>
      <a:dk2>
        <a:srgbClr val="0E3B43"/>
      </a:dk2>
      <a:lt2>
        <a:srgbClr val="EEF4F3"/>
      </a:lt2>
      <a:accent1>
        <a:srgbClr val="0F7C7A"/>
      </a:accent1>
      <a:accent2>
        <a:srgbClr val="E3A33B"/>
      </a:accent2>
      <a:accent3>
        <a:srgbClr val="C8553D"/>
      </a:accent3>
      <a:accent4>
        <a:srgbClr val="5B8C85"/>
      </a:accent4>
      <a:accent5>
        <a:srgbClr val="9DB7B3"/>
      </a:accent5>
      <a:accent6>
        <a:srgbClr val="4A4E69"/>
      </a:accent6>
      <a:hlink>
        <a:srgbClr val="0F7C7A"/>
      </a:hlink>
      <a:folHlink>
        <a:srgbClr val="4A4E69"/>
      </a:folHlink>
    </a:clrScheme>
    <a:fontScheme name="Credito Preaprobad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1503</Words>
  <Application>Microsoft Office PowerPoint</Application>
  <PresentationFormat>Presentación en pantalla (16:9)</PresentationFormat>
  <Paragraphs>213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Credito Preaprobado</vt:lpstr>
      <vt:lpstr>Automatización del flujo de crédito preaprobado</vt:lpstr>
      <vt:lpstr>La propuesta reduce el expediente a la mitad y se paga en 10 meses</vt:lpstr>
      <vt:lpstr>Hoy 12 de los 17 días se van en armar el expediente</vt:lpstr>
      <vt:lpstr>Tres problemas explican la demora y la pérdida de créditos</vt:lpstr>
      <vt:lpstr>Se aprobó el paquete A: portal, validación, recogida y estado</vt:lpstr>
      <vt:lpstr>El TO-BE saca el papel de la ruta crítica</vt:lpstr>
      <vt:lpstr>Recordatorios y llamada recuperan 57 créditos más al año</vt:lpstr>
      <vt:lpstr>Cuatro KPI miden el cambio; los datos sintéticos ya los cumplen</vt:lpstr>
      <vt:lpstr>La versión mínima del portal es la única opción con ROI positivo</vt:lpstr>
      <vt:lpstr>El caso de negocio se sostiene solo si se cumplen tres condiciones</vt:lpstr>
      <vt:lpstr>Recorrido: 27 pasos y 21 rondas de validación con el negocio</vt:lpstr>
      <vt:lpstr>El MVP demuestra la carga y la verificación digital</vt:lpstr>
      <vt:lpstr>Decisiones que se solicitan</vt:lpstr>
    </vt:vector>
  </TitlesOfParts>
  <Company>BanReservas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Automatización del flujo de crédito preaprobado</dc:title>
  <dc:subject>PptxGenJS Presentation</dc:subject>
  <dc:creator>Ana Ochoa</dc:creator>
  <cp:lastModifiedBy>Ana  Ochoa</cp:lastModifiedBy>
  <cp:revision>2</cp:revision>
  <dcterms:created xsi:type="dcterms:W3CDTF">2026-10-28T21:27:11Z</dcterms:created>
  <dcterms:modified xsi:type="dcterms:W3CDTF">2026-10-29T01:23:16Z</dcterms:modified>
</cp:coreProperties>
</file>